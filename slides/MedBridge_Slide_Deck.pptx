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bold r:id="rId13"/>
      <p:boldItalic r:id="rId14"/>
    </p:embeddedFont>
    <p:embeddedFont>
      <p:font typeface="Inter Light" panose="020B0604020202020204" charset="0"/>
      <p:regular r:id="rId15"/>
      <p:bold r:id="rId16"/>
      <p:italic r:id="rId17"/>
      <p:boldItalic r:id="rId18"/>
    </p:embeddedFont>
    <p:embeddedFont>
      <p:font typeface="Montserrat Light" panose="020F0502020204030204" pitchFamily="2" charset="0"/>
      <p:regular r:id="rId19"/>
      <p:bold r:id="rId20"/>
      <p:italic r:id="rId21"/>
      <p:boldItalic r:id="rId22"/>
    </p:embeddedFont>
    <p:embeddedFont>
      <p:font typeface="Montserrat Medium" panose="020F0502020204030204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3925119" y="1597149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2750"/>
              <a:buFont typeface="Montserrat Medium"/>
              <a:buNone/>
            </a:pPr>
            <a:r>
              <a:rPr lang="en-US" sz="2750" b="0" i="0" u="none" strike="noStrike" cap="non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MedBridge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3925119" y="2252737"/>
            <a:ext cx="4722763" cy="1293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00"/>
              <a:buFont typeface="Inter Light"/>
              <a:buNone/>
            </a:pPr>
            <a:r>
              <a:rPr lang="en-US" sz="11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One Photo. One Clear Picture of Everything You're Taking.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0D7377"/>
              </a:buClr>
              <a:buSzPts val="1100"/>
              <a:buFont typeface="Inter Light"/>
              <a:buNone/>
            </a:pPr>
            <a:r>
              <a:rPr lang="en-US" sz="1100" b="0" i="0" u="none" strike="noStrike" cap="none">
                <a:solidFill>
                  <a:srgbClr val="0D7377"/>
                </a:solidFill>
                <a:latin typeface="Inter Light"/>
                <a:ea typeface="Inter Light"/>
                <a:cs typeface="Inter Light"/>
                <a:sym typeface="Inter Light"/>
              </a:rPr>
              <a:t>HealthTech | iQOO Hackathon 2026 — Pune Battle 02</a:t>
            </a:r>
            <a:r>
              <a:rPr lang="en-US" sz="11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 ·  </a:t>
            </a:r>
            <a:endParaRPr sz="1100" b="0" i="0" u="none" strike="noStrike" cap="none">
              <a:solidFill>
                <a:srgbClr val="3D3E44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0D7377"/>
              </a:buClr>
              <a:buSzPts val="1100"/>
              <a:buFont typeface="Inter Light"/>
              <a:buNone/>
            </a:pPr>
            <a:endParaRPr sz="1100">
              <a:solidFill>
                <a:srgbClr val="3D3E44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00"/>
              <a:buFont typeface="Inter Light"/>
              <a:buNone/>
            </a:pPr>
            <a:r>
              <a:rPr lang="en-US" sz="11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Daksh Khandelwal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00"/>
              <a:buFont typeface="Inter Light"/>
              <a:buNone/>
            </a:pPr>
            <a:r>
              <a:rPr lang="en-US" sz="11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Khushi Kushwah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7935460" y="4813185"/>
            <a:ext cx="1200600" cy="322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496119" y="416868"/>
            <a:ext cx="4722763" cy="841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2650"/>
              <a:buFont typeface="Montserrat Medium"/>
              <a:buNone/>
            </a:pPr>
            <a:r>
              <a:rPr lang="en-US" sz="2650" b="0" i="0" u="none" strike="noStrike" cap="non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Can you read what your doctor wrote?</a:t>
            </a:r>
            <a:endParaRPr sz="2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119" y="1450553"/>
            <a:ext cx="673373" cy="80806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/>
          <p:nvPr/>
        </p:nvSpPr>
        <p:spPr>
          <a:xfrm>
            <a:off x="1297409" y="1585168"/>
            <a:ext cx="3921472" cy="21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00"/>
              <a:buFont typeface="Montserrat Medium"/>
              <a:buNone/>
            </a:pPr>
            <a:r>
              <a:rPr lang="en-US" sz="130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Reading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1297409" y="1872258"/>
            <a:ext cx="3921472" cy="21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050"/>
              <a:buFont typeface="Inter Light"/>
              <a:buNone/>
            </a:pPr>
            <a:r>
              <a:rPr lang="en-US" sz="105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Confusion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6119" y="2258616"/>
            <a:ext cx="673373" cy="80806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1297409" y="2393231"/>
            <a:ext cx="3921472" cy="21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00"/>
              <a:buFont typeface="Montserrat Medium"/>
              <a:buNone/>
            </a:pPr>
            <a:r>
              <a:rPr lang="en-US" sz="130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Confusion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1297409" y="2680320"/>
            <a:ext cx="3921472" cy="21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050"/>
              <a:buFont typeface="Inter Light"/>
              <a:buNone/>
            </a:pPr>
            <a:r>
              <a:rPr lang="en-US" sz="105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Fragmented information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6119" y="3066678"/>
            <a:ext cx="673373" cy="80806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/>
          <p:nvPr/>
        </p:nvSpPr>
        <p:spPr>
          <a:xfrm>
            <a:off x="1297409" y="3201293"/>
            <a:ext cx="3921472" cy="21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00"/>
              <a:buFont typeface="Montserrat Medium"/>
              <a:buNone/>
            </a:pPr>
            <a:r>
              <a:rPr lang="en-US" sz="130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Fragmented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1297409" y="3488382"/>
            <a:ext cx="3921472" cy="21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050"/>
              <a:buFont typeface="Inter Light"/>
              <a:buNone/>
            </a:pPr>
            <a:r>
              <a:rPr lang="en-US" sz="105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Unsafe medication management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98078" y="4162574"/>
            <a:ext cx="4520803" cy="4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050"/>
              <a:buFont typeface="Inter Light"/>
              <a:buNone/>
            </a:pPr>
            <a:r>
              <a:rPr lang="en-US" sz="105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"The prescription is written for the doctor. The patient still has to live with it."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96119" y="4018657"/>
            <a:ext cx="19050" cy="707975"/>
          </a:xfrm>
          <a:prstGeom prst="roundRect">
            <a:avLst>
              <a:gd name="adj" fmla="val 50000"/>
            </a:avLst>
          </a:prstGeom>
          <a:solidFill>
            <a:srgbClr val="C6C9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7935460" y="4813185"/>
            <a:ext cx="1200600" cy="322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496119" y="459953"/>
            <a:ext cx="8151763" cy="31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1950"/>
              <a:buFont typeface="Montserrat Medium"/>
              <a:buNone/>
            </a:pPr>
            <a:r>
              <a:rPr lang="en-US" sz="1950" b="0" i="0" u="none" strike="noStrike" cap="non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problem doesn't end with the prescription.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496119" y="908968"/>
            <a:ext cx="8608963" cy="13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Inter Light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One patient. Multiple practitioners. Fragmented information streams.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200224"/>
            <a:ext cx="2768352" cy="276835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/>
          <p:nvPr/>
        </p:nvSpPr>
        <p:spPr>
          <a:xfrm>
            <a:off x="4697760" y="2449413"/>
            <a:ext cx="3954884" cy="269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Inter"/>
              <a:buNone/>
            </a:pPr>
            <a:r>
              <a:rPr lang="en-US" sz="750" b="1" i="0" u="none" strike="noStrike" cap="non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Different treatments. Different sources. No single picture.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Inter"/>
              <a:buNone/>
            </a:pPr>
            <a:r>
              <a:rPr lang="en-US" sz="750" b="1" i="0" u="none" strike="noStrike" cap="none">
                <a:solidFill>
                  <a:srgbClr val="0D7377"/>
                </a:solidFill>
                <a:latin typeface="Inter"/>
                <a:ea typeface="Inter"/>
                <a:cs typeface="Inter"/>
                <a:sym typeface="Inter"/>
              </a:rPr>
              <a:t>MedBridge creates one clear medication picture.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119" y="4124846"/>
            <a:ext cx="2670944" cy="5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/>
          <p:nvPr/>
        </p:nvSpPr>
        <p:spPr>
          <a:xfrm>
            <a:off x="666750" y="4238327"/>
            <a:ext cx="2386831" cy="155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950"/>
              <a:buFont typeface="Montserrat Medium"/>
              <a:buNone/>
            </a:pPr>
            <a:r>
              <a:rPr lang="en-US" sz="9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Doctor 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666750" y="4435004"/>
            <a:ext cx="2386831" cy="13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Inter Light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Allopathic prescription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6491" y="4124846"/>
            <a:ext cx="2670944" cy="5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3407122" y="4238327"/>
            <a:ext cx="2386831" cy="155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950"/>
              <a:buFont typeface="Montserrat Medium"/>
              <a:buNone/>
            </a:pPr>
            <a:r>
              <a:rPr lang="en-US" sz="9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Doctor 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3407122" y="4435004"/>
            <a:ext cx="2386831" cy="13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Inter Light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Additional treatment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76863" y="4124846"/>
            <a:ext cx="2670944" cy="5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/>
          <p:nvPr/>
        </p:nvSpPr>
        <p:spPr>
          <a:xfrm>
            <a:off x="6147495" y="4238327"/>
            <a:ext cx="2386831" cy="155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950"/>
              <a:buFont typeface="Montserrat Medium"/>
              <a:buNone/>
            </a:pPr>
            <a:r>
              <a:rPr lang="en-US" sz="9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Home Remedy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6147495" y="4435004"/>
            <a:ext cx="2386831" cy="13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Inter Light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Parallel care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935460" y="4813185"/>
            <a:ext cx="1200600" cy="322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496119" y="423044"/>
            <a:ext cx="8151763" cy="287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1800"/>
              <a:buFont typeface="Montserrat Medium"/>
              <a:buNone/>
            </a:pPr>
            <a:r>
              <a:rPr lang="en-US" sz="1800" b="0" i="0" u="none" strike="noStrike" cap="non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Meet MedBridge.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496119" y="830759"/>
            <a:ext cx="8608963" cy="12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00"/>
              <a:buFont typeface="Inter Light"/>
              <a:buNone/>
            </a:pPr>
            <a:r>
              <a:rPr lang="en-US" sz="7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Smartphone-centered. One photo transforms everything.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8386" y="1019696"/>
            <a:ext cx="4727153" cy="258306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/>
          <p:nvPr/>
        </p:nvSpPr>
        <p:spPr>
          <a:xfrm>
            <a:off x="2831768" y="2230013"/>
            <a:ext cx="1095301" cy="149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900"/>
              <a:buFont typeface="Montserrat Medium"/>
              <a:buNone/>
            </a:pPr>
            <a:r>
              <a:rPr lang="en-US" sz="900" b="0" i="0" u="none" strike="noStrike" cap="non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Photo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5597589" y="2213207"/>
            <a:ext cx="1095300" cy="14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900"/>
              <a:buFont typeface="Montserrat Medium"/>
              <a:buNone/>
            </a:pPr>
            <a:r>
              <a:rPr lang="en-US" sz="900" b="0" i="0" u="none" strike="noStrike" cap="non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Understand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4246469" y="2218588"/>
            <a:ext cx="1095300" cy="149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900"/>
              <a:buFont typeface="Montserrat Medium"/>
              <a:buNone/>
            </a:pPr>
            <a:r>
              <a:rPr lang="en-US" sz="900" b="0" i="0" u="none" strike="noStrike" cap="non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Explain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496119" y="3670102"/>
            <a:ext cx="4045967" cy="495226"/>
          </a:xfrm>
          <a:prstGeom prst="roundRect">
            <a:avLst>
              <a:gd name="adj" fmla="val 16747"/>
            </a:avLst>
          </a:prstGeom>
          <a:solidFill>
            <a:srgbClr val="EFF0F6"/>
          </a:solidFill>
          <a:ln w="9525" cap="flat" cmpd="sng">
            <a:solidFill>
              <a:srgbClr val="C5C7D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593006" y="3766989"/>
            <a:ext cx="3852193" cy="143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📸</a:t>
            </a:r>
            <a:r>
              <a:rPr lang="en-US" sz="90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Photo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593006" y="3946847"/>
            <a:ext cx="3852193" cy="12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00"/>
              <a:buFont typeface="Inter Light"/>
              <a:buNone/>
            </a:pPr>
            <a:r>
              <a:rPr lang="en-US" sz="7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Capture any prescription instantly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4601914" y="3670102"/>
            <a:ext cx="4045967" cy="495226"/>
          </a:xfrm>
          <a:prstGeom prst="roundRect">
            <a:avLst>
              <a:gd name="adj" fmla="val 16747"/>
            </a:avLst>
          </a:prstGeom>
          <a:solidFill>
            <a:srgbClr val="EFF0F6"/>
          </a:solidFill>
          <a:ln w="9525" cap="flat" cmpd="sng">
            <a:solidFill>
              <a:srgbClr val="C5C7D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4698802" y="3766989"/>
            <a:ext cx="3852193" cy="143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📖</a:t>
            </a:r>
            <a:r>
              <a:rPr lang="en-US" sz="90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Explain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698802" y="3946847"/>
            <a:ext cx="3852193" cy="12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00"/>
              <a:buFont typeface="Inter Light"/>
              <a:buNone/>
            </a:pPr>
            <a:r>
              <a:rPr lang="en-US" sz="7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Simple language + voice read-aloud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96119" y="4225156"/>
            <a:ext cx="4045967" cy="495226"/>
          </a:xfrm>
          <a:prstGeom prst="roundRect">
            <a:avLst>
              <a:gd name="adj" fmla="val 16747"/>
            </a:avLst>
          </a:prstGeom>
          <a:solidFill>
            <a:srgbClr val="EFF0F6"/>
          </a:solidFill>
          <a:ln w="9525" cap="flat" cmpd="sng">
            <a:solidFill>
              <a:srgbClr val="C5C7D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593006" y="4322043"/>
            <a:ext cx="3852193" cy="143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</a:t>
            </a:r>
            <a:r>
              <a:rPr lang="en-US" sz="90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Organize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593006" y="4501902"/>
            <a:ext cx="3852193" cy="12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00"/>
              <a:buFont typeface="Inter Light"/>
              <a:buNone/>
            </a:pPr>
            <a:r>
              <a:rPr lang="en-US" sz="7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Clear medication timeline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601914" y="4225156"/>
            <a:ext cx="4045967" cy="495226"/>
          </a:xfrm>
          <a:prstGeom prst="roundRect">
            <a:avLst>
              <a:gd name="adj" fmla="val 16747"/>
            </a:avLst>
          </a:prstGeom>
          <a:solidFill>
            <a:srgbClr val="EFF0F6"/>
          </a:solidFill>
          <a:ln w="9525" cap="flat" cmpd="sng">
            <a:solidFill>
              <a:srgbClr val="C5C7D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4698802" y="4322043"/>
            <a:ext cx="3852193" cy="143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🔗</a:t>
            </a:r>
            <a:r>
              <a:rPr lang="en-US" sz="90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Reconcile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4698802" y="4501902"/>
            <a:ext cx="3852193" cy="12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00"/>
              <a:buFont typeface="Inter Light"/>
              <a:buNone/>
            </a:pPr>
            <a:r>
              <a:rPr lang="en-US" sz="7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Cross-system overlap surfaced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7935460" y="4813185"/>
            <a:ext cx="1200600" cy="322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/>
          <p:nvPr/>
        </p:nvSpPr>
        <p:spPr>
          <a:xfrm>
            <a:off x="496119" y="604242"/>
            <a:ext cx="8151763" cy="31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1950"/>
              <a:buFont typeface="Montserrat Medium"/>
              <a:buNone/>
            </a:pPr>
            <a:r>
              <a:rPr lang="en-US" sz="1950" b="0" i="0" u="none" strike="noStrike" cap="non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Not a chatbot. A multi-stage AI pipeline.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8210" y="1991916"/>
            <a:ext cx="3649712" cy="157385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/>
          <p:nvPr/>
        </p:nvSpPr>
        <p:spPr>
          <a:xfrm>
            <a:off x="1523781" y="3267311"/>
            <a:ext cx="828006" cy="10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Montserrat Medium"/>
              <a:buNone/>
            </a:pPr>
            <a:r>
              <a:rPr lang="en-US" sz="65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Normalize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1523781" y="2902988"/>
            <a:ext cx="828006" cy="10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Montserrat Medium"/>
              <a:buNone/>
            </a:pPr>
            <a:r>
              <a:rPr lang="en-US" sz="65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Structure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1523781" y="2542346"/>
            <a:ext cx="828006" cy="10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Montserrat Medium"/>
              <a:buNone/>
            </a:pPr>
            <a:r>
              <a:rPr lang="en-US" sz="65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OCR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1523781" y="2178023"/>
            <a:ext cx="828006" cy="10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Montserrat Medium"/>
              <a:buNone/>
            </a:pPr>
            <a:r>
              <a:rPr lang="en-US" sz="65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Capture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56771" y="1096640"/>
            <a:ext cx="2695798" cy="72137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8"/>
          <p:cNvSpPr/>
          <p:nvPr/>
        </p:nvSpPr>
        <p:spPr>
          <a:xfrm>
            <a:off x="6092726" y="1364307"/>
            <a:ext cx="148828" cy="18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Montserrat Medium"/>
              <a:buNone/>
            </a:pPr>
            <a:r>
              <a:rPr lang="en-US" sz="11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6437412" y="1210121"/>
            <a:ext cx="2101676" cy="155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950"/>
              <a:buFont typeface="Montserrat Medium"/>
              <a:buNone/>
            </a:pPr>
            <a:r>
              <a:rPr lang="en-US" sz="9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Vision OCR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6437412" y="1434554"/>
            <a:ext cx="2101676" cy="269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Inter Light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Google Vision / Claude Vision reads raw handwriting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56771" y="1887438"/>
            <a:ext cx="2695798" cy="59538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8"/>
          <p:cNvSpPr/>
          <p:nvPr/>
        </p:nvSpPr>
        <p:spPr>
          <a:xfrm>
            <a:off x="6092726" y="2092077"/>
            <a:ext cx="148828" cy="18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Montserrat Medium"/>
              <a:buNone/>
            </a:pPr>
            <a:r>
              <a:rPr lang="en-US" sz="11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6437412" y="2000920"/>
            <a:ext cx="2101676" cy="155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950"/>
              <a:buFont typeface="Montserrat Medium"/>
              <a:buNone/>
            </a:pPr>
            <a:r>
              <a:rPr lang="en-US" sz="9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Structured Extraction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6437412" y="2225353"/>
            <a:ext cx="2101676" cy="13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Inter Light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Medicine · Dosage · Frequency · Duration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56771" y="2552254"/>
            <a:ext cx="2695798" cy="7213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8"/>
          <p:cNvSpPr/>
          <p:nvPr/>
        </p:nvSpPr>
        <p:spPr>
          <a:xfrm>
            <a:off x="6092726" y="2819921"/>
            <a:ext cx="148828" cy="18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Montserrat Medium"/>
              <a:buNone/>
            </a:pPr>
            <a:r>
              <a:rPr lang="en-US" sz="11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6437412" y="2665735"/>
            <a:ext cx="2101676" cy="155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950"/>
              <a:buFont typeface="Montserrat Medium"/>
              <a:buNone/>
            </a:pPr>
            <a:r>
              <a:rPr lang="en-US" sz="9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Confidence Gate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6437412" y="2890168"/>
            <a:ext cx="2101676" cy="269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Inter Light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Uncertain fields surfaced for patient confirmation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56771" y="3343052"/>
            <a:ext cx="2695798" cy="59538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8"/>
          <p:cNvSpPr/>
          <p:nvPr/>
        </p:nvSpPr>
        <p:spPr>
          <a:xfrm>
            <a:off x="6092726" y="3547690"/>
            <a:ext cx="148828" cy="18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Montserrat Medium"/>
              <a:buNone/>
            </a:pPr>
            <a:r>
              <a:rPr lang="en-US" sz="11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6437412" y="3456533"/>
            <a:ext cx="2101676" cy="155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950"/>
              <a:buFont typeface="Montserrat Medium"/>
              <a:buNone/>
            </a:pPr>
            <a:r>
              <a:rPr lang="en-US" sz="9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LLM Explanation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6437412" y="3680966"/>
            <a:ext cx="2101676" cy="13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Inter Light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Plain-language explanation + voice output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5956771" y="4016573"/>
            <a:ext cx="2695798" cy="444550"/>
          </a:xfrm>
          <a:prstGeom prst="roundRect">
            <a:avLst>
              <a:gd name="adj" fmla="val 20091"/>
            </a:avLst>
          </a:prstGeom>
          <a:solidFill>
            <a:srgbClr val="DFE1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" name="Google Shape;114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55965" y="4123953"/>
            <a:ext cx="123974" cy="9919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/>
          <p:nvPr/>
        </p:nvSpPr>
        <p:spPr>
          <a:xfrm>
            <a:off x="6279133" y="4103861"/>
            <a:ext cx="2274243" cy="269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</a:pPr>
            <a:r>
              <a:rPr lang="en-US" sz="7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 does not silently guess.</a:t>
            </a:r>
            <a:r>
              <a:rPr lang="en-US" sz="750" b="0" i="0" u="none" strike="noStrike" cap="non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Uncertain information is always surfaced for confirmation.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7935460" y="4813185"/>
            <a:ext cx="1200600" cy="322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9"/>
          <p:cNvSpPr/>
          <p:nvPr/>
        </p:nvSpPr>
        <p:spPr>
          <a:xfrm>
            <a:off x="3925119" y="445443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2750"/>
              <a:buFont typeface="Montserrat Medium"/>
              <a:buNone/>
            </a:pPr>
            <a:r>
              <a:rPr lang="en-US" sz="2750" b="0" i="0" u="none" strike="noStrike" cap="non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Why the phone matters.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3925119" y="1101030"/>
            <a:ext cx="517996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00"/>
              <a:buFont typeface="Inter Light"/>
              <a:buNone/>
            </a:pPr>
            <a:r>
              <a:rPr lang="en-US" sz="1100" b="0" i="1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"The input already exists in the patient's hand."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5119" y="1487314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9"/>
          <p:cNvSpPr/>
          <p:nvPr/>
        </p:nvSpPr>
        <p:spPr>
          <a:xfrm>
            <a:off x="4456658" y="1487314"/>
            <a:ext cx="4191223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📷</a:t>
            </a:r>
            <a:r>
              <a:rPr lang="en-US" sz="13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Camera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4456658" y="1793825"/>
            <a:ext cx="4191223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00"/>
              <a:buFont typeface="Inter Light"/>
              <a:buNone/>
            </a:pPr>
            <a:r>
              <a:rPr lang="en-US" sz="11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Capture paper prescriptions instantly — no scanning, no manual entry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25119" y="2530971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9"/>
          <p:cNvSpPr/>
          <p:nvPr/>
        </p:nvSpPr>
        <p:spPr>
          <a:xfrm>
            <a:off x="4456658" y="2530971"/>
            <a:ext cx="4191223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🔊</a:t>
            </a:r>
            <a:r>
              <a:rPr lang="en-US" sz="13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Voice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456658" y="2837483"/>
            <a:ext cx="419122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00"/>
              <a:buFont typeface="Inter Light"/>
              <a:buNone/>
            </a:pPr>
            <a:r>
              <a:rPr lang="en-US" sz="11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Hear explanations in Hindi or English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25119" y="3347814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"/>
          <p:cNvSpPr/>
          <p:nvPr/>
        </p:nvSpPr>
        <p:spPr>
          <a:xfrm>
            <a:off x="4456658" y="3347814"/>
            <a:ext cx="4191223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🧠</a:t>
            </a:r>
            <a:r>
              <a:rPr lang="en-US" sz="13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AI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4456658" y="3654326"/>
            <a:ext cx="419122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00"/>
              <a:buFont typeface="Inter Light"/>
              <a:buNone/>
            </a:pPr>
            <a:r>
              <a:rPr lang="en-US" sz="11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Understand messy, handwritten medical notation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25119" y="4164657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9"/>
          <p:cNvSpPr/>
          <p:nvPr/>
        </p:nvSpPr>
        <p:spPr>
          <a:xfrm>
            <a:off x="4456658" y="4164657"/>
            <a:ext cx="4191223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🎒</a:t>
            </a:r>
            <a:r>
              <a:rPr lang="en-US" sz="13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Portability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4456658" y="4471169"/>
            <a:ext cx="419122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00"/>
              <a:buFont typeface="Inter Light"/>
              <a:buNone/>
            </a:pPr>
            <a:r>
              <a:rPr lang="en-US" sz="11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Carry one medication picture anywhere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7935460" y="4813185"/>
            <a:ext cx="1200600" cy="322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/>
          <p:nvPr/>
        </p:nvSpPr>
        <p:spPr>
          <a:xfrm>
            <a:off x="496119" y="392981"/>
            <a:ext cx="8151763" cy="39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2500"/>
              <a:buFont typeface="Montserrat Medium"/>
              <a:buNone/>
            </a:pPr>
            <a:r>
              <a:rPr lang="en-US" sz="2500" b="0" i="0" u="none" strike="noStrike" cap="non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One patient. Multiple systems. One visible picture.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093068"/>
            <a:ext cx="3528194" cy="352819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0"/>
          <p:cNvSpPr/>
          <p:nvPr/>
        </p:nvSpPr>
        <p:spPr>
          <a:xfrm>
            <a:off x="4732362" y="1276350"/>
            <a:ext cx="3920282" cy="19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1250"/>
              <a:buFont typeface="Montserrat Medium"/>
              <a:buNone/>
            </a:pPr>
            <a:r>
              <a:rPr lang="en-US" sz="1250" b="0" i="0" u="none" strike="noStrike" cap="non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unique MedBridge capability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8075" y="1590526"/>
            <a:ext cx="1902693" cy="92980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0"/>
          <p:cNvSpPr/>
          <p:nvPr/>
        </p:nvSpPr>
        <p:spPr>
          <a:xfrm>
            <a:off x="4888483" y="1604814"/>
            <a:ext cx="1732285" cy="398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Montserrat Medium"/>
              <a:buNone/>
            </a:pPr>
            <a:r>
              <a:rPr lang="en-US" sz="12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Allopathic + Homeopathic Log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4888483" y="2118196"/>
            <a:ext cx="1732285" cy="38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000"/>
              <a:buFont typeface="Inter Light"/>
              <a:buNone/>
            </a:pPr>
            <a:r>
              <a:rPr lang="en-US" sz="10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Both systems logged in one place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9951" y="1590526"/>
            <a:ext cx="1902693" cy="92980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0"/>
          <p:cNvSpPr/>
          <p:nvPr/>
        </p:nvSpPr>
        <p:spPr>
          <a:xfrm>
            <a:off x="6920359" y="1604814"/>
            <a:ext cx="1732285" cy="19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Montserrat Medium"/>
              <a:buNone/>
            </a:pPr>
            <a:r>
              <a:rPr lang="en-US" sz="12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Unified Timeline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6920359" y="1918915"/>
            <a:ext cx="1732285" cy="38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000"/>
              <a:buFont typeface="Inter Light"/>
              <a:buNone/>
            </a:pPr>
            <a:r>
              <a:rPr lang="en-US" sz="10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Single medication and treatment picture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8075" y="2721397"/>
            <a:ext cx="3934569" cy="92444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0"/>
          <p:cNvSpPr/>
          <p:nvPr/>
        </p:nvSpPr>
        <p:spPr>
          <a:xfrm>
            <a:off x="4888483" y="2735684"/>
            <a:ext cx="3764161" cy="19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Montserrat Medium"/>
              <a:buNone/>
            </a:pPr>
            <a:r>
              <a:rPr lang="en-US" sz="12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Disclosure Flag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4888483" y="3049786"/>
            <a:ext cx="3764161" cy="581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000"/>
              <a:buFont typeface="Inter Light"/>
              <a:buNone/>
            </a:pPr>
            <a:r>
              <a:rPr lang="en-US" sz="1000" b="0" i="1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"You've logged treatments addressing the same symptom from different systems. Consider mentioning this to both practitioners."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4732362" y="3760738"/>
            <a:ext cx="3920282" cy="662880"/>
          </a:xfrm>
          <a:prstGeom prst="roundRect">
            <a:avLst>
              <a:gd name="adj" fmla="val 17323"/>
            </a:avLst>
          </a:prstGeom>
          <a:solidFill>
            <a:srgbClr val="FCF2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9908" y="3938662"/>
            <a:ext cx="159469" cy="12754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0"/>
          <p:cNvSpPr/>
          <p:nvPr/>
        </p:nvSpPr>
        <p:spPr>
          <a:xfrm>
            <a:off x="5146923" y="3895874"/>
            <a:ext cx="3378175" cy="392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r>
              <a:rPr lang="en-US" sz="1000" b="0" i="0" u="none" strike="noStrike" cap="non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Traditional / educational information only. Not medical advice.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7935460" y="4813185"/>
            <a:ext cx="1200600" cy="322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/>
          <p:nvPr/>
        </p:nvSpPr>
        <p:spPr>
          <a:xfrm>
            <a:off x="496119" y="717575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2750"/>
              <a:buFont typeface="Montserrat Medium"/>
              <a:buNone/>
            </a:pPr>
            <a:r>
              <a:rPr lang="en-US" sz="2750" b="0" i="0" u="none" strike="noStrike" cap="non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MedBridge explains. It never decides.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496119" y="1444079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00"/>
              <a:buFont typeface="Inter Light"/>
              <a:buNone/>
            </a:pPr>
            <a:r>
              <a:rPr lang="en-US" sz="11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Clear boundaries for safety and trust.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394022" y="1830363"/>
            <a:ext cx="4107135" cy="2595563"/>
          </a:xfrm>
          <a:prstGeom prst="roundRect">
            <a:avLst>
              <a:gd name="adj" fmla="val 7865"/>
            </a:avLst>
          </a:prstGeom>
          <a:solidFill>
            <a:srgbClr val="1A3A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535781" y="1972121"/>
            <a:ext cx="3823618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 Medium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✓ We Do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535781" y="2335337"/>
            <a:ext cx="3823618" cy="1885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700" rIns="0" bIns="0" anchor="t" anchorCtr="0">
            <a:noAutofit/>
          </a:bodyPr>
          <a:lstStyle/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 Light"/>
              <a:buChar char="•"/>
            </a:pPr>
            <a:r>
              <a:rPr lang="en-US" sz="1100" b="0" i="0" u="none" strike="noStrike" cap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Read prescriptions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 Light"/>
              <a:buChar char="•"/>
            </a:pPr>
            <a:r>
              <a:rPr lang="en-US" sz="1100" b="0" i="0" u="none" strike="noStrike" cap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Extract information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 Light"/>
              <a:buChar char="•"/>
            </a:pPr>
            <a:r>
              <a:rPr lang="en-US" sz="1100" b="0" i="0" u="none" strike="noStrike" cap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Organize clearly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 Light"/>
              <a:buChar char="•"/>
            </a:pPr>
            <a:r>
              <a:rPr lang="en-US" sz="1100" b="0" i="0" u="none" strike="noStrike" cap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Explain simply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 Light"/>
              <a:buChar char="•"/>
            </a:pPr>
            <a:r>
              <a:rPr lang="en-US" sz="1100" b="0" i="0" u="none" strike="noStrike" cap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Track medications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 Light"/>
              <a:buChar char="•"/>
            </a:pPr>
            <a:r>
              <a:rPr lang="en-US" sz="1100" b="0" i="0" u="none" strike="noStrike" cap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Surface uncertainty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 Light"/>
              <a:buChar char="•"/>
            </a:pPr>
            <a:r>
              <a:rPr lang="en-US" sz="1100" b="0" i="0" u="none" strike="noStrike" cap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Encourage disclosure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4749701" y="1972121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1350"/>
              <a:buFont typeface="Montserrat Medium"/>
              <a:buNone/>
            </a:pPr>
            <a:r>
              <a:rPr lang="en-US" sz="1350" b="0" i="0" u="none" strike="noStrike" cap="non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✕ We Don't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4749701" y="2335337"/>
            <a:ext cx="3902943" cy="1608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700" rIns="0" bIns="0" anchor="t" anchorCtr="0">
            <a:noAutofit/>
          </a:bodyPr>
          <a:lstStyle/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00"/>
              <a:buFont typeface="Inter Light"/>
              <a:buChar char="•"/>
            </a:pPr>
            <a:r>
              <a:rPr lang="en-US" sz="11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Diagnose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00"/>
              <a:buFont typeface="Inter Light"/>
              <a:buChar char="•"/>
            </a:pPr>
            <a:r>
              <a:rPr lang="en-US" sz="11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Prescribe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00"/>
              <a:buFont typeface="Inter Light"/>
              <a:buChar char="•"/>
            </a:pPr>
            <a:r>
              <a:rPr lang="en-US" sz="11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Tell users to start / stop medication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00"/>
              <a:buFont typeface="Inter Light"/>
              <a:buChar char="•"/>
            </a:pPr>
            <a:r>
              <a:rPr lang="en-US" sz="11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Replace doctors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00"/>
              <a:buFont typeface="Inter Light"/>
              <a:buChar char="•"/>
            </a:pPr>
            <a:r>
              <a:rPr lang="en-US" sz="11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Make medical decisions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00"/>
              <a:buFont typeface="Inter Light"/>
              <a:buChar char="•"/>
            </a:pPr>
            <a:r>
              <a:rPr lang="en-US" sz="11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Claim equivalence between systems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749701" y="4071565"/>
            <a:ext cx="436014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0D7377"/>
                </a:solidFill>
                <a:latin typeface="Inter"/>
                <a:ea typeface="Inter"/>
                <a:cs typeface="Inter"/>
                <a:sym typeface="Inter"/>
              </a:rPr>
              <a:t>Explain and organize — never decide.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7935460" y="4813185"/>
            <a:ext cx="1200600" cy="322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/>
          <p:nvPr/>
        </p:nvSpPr>
        <p:spPr>
          <a:xfrm>
            <a:off x="496119" y="408161"/>
            <a:ext cx="8151763" cy="24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1500"/>
              <a:buFont typeface="Montserrat Medium"/>
              <a:buNone/>
            </a:pPr>
            <a:r>
              <a:rPr lang="en-US" sz="1500" b="0" i="0" u="none" strike="noStrike" cap="non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Built for the hackathon. Designed for real life.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496119" y="736402"/>
            <a:ext cx="529903" cy="118095"/>
          </a:xfrm>
          <a:prstGeom prst="roundRect">
            <a:avLst>
              <a:gd name="adj" fmla="val 47403"/>
            </a:avLst>
          </a:prstGeom>
          <a:solidFill>
            <a:srgbClr val="DFE1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2"/>
          <p:cNvSpPr/>
          <p:nvPr/>
        </p:nvSpPr>
        <p:spPr>
          <a:xfrm>
            <a:off x="542702" y="759693"/>
            <a:ext cx="893936" cy="71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450"/>
              <a:buFont typeface="Inter Light"/>
              <a:buNone/>
            </a:pPr>
            <a:r>
              <a:rPr lang="en-US" sz="45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30-HOUR MVP</a:t>
            </a:r>
            <a:endParaRPr sz="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523516" y="1529740"/>
            <a:ext cx="3981000" cy="1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750"/>
              <a:buFont typeface="Montserrat Medium"/>
              <a:buNone/>
            </a:pPr>
            <a:r>
              <a:rPr lang="en-US" sz="1650" b="0" i="0" u="none" strike="noStrike" cap="non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Tech Stack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542699" y="1890238"/>
            <a:ext cx="34047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600"/>
              <a:buFont typeface="Inter"/>
              <a:buNone/>
            </a:pPr>
            <a:r>
              <a:rPr lang="en-US" b="1" i="0" u="none" strike="noStrike" cap="non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Domain insight:</a:t>
            </a:r>
            <a:r>
              <a:rPr lang="en-US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Access to practicing homeopathic doctor for terminology and workflow validation.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4671566" y="945059"/>
            <a:ext cx="3981078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750"/>
              <a:buFont typeface="Montserrat Medium"/>
              <a:buNone/>
            </a:pPr>
            <a:r>
              <a:rPr lang="en-US" sz="750" b="0" i="0" u="none" strike="noStrike" cap="non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Prior Work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4671566" y="1114425"/>
            <a:ext cx="155451" cy="9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600"/>
              <a:buFont typeface="Montserrat Light"/>
              <a:buNone/>
            </a:pPr>
            <a:r>
              <a:rPr lang="en-US" sz="600" b="0" i="0" u="none" strike="noStrike" cap="none">
                <a:solidFill>
                  <a:srgbClr val="3D3E4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01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4671566" y="1236985"/>
            <a:ext cx="3981078" cy="9525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2"/>
          <p:cNvSpPr/>
          <p:nvPr/>
        </p:nvSpPr>
        <p:spPr>
          <a:xfrm>
            <a:off x="4671566" y="1294879"/>
            <a:ext cx="3981078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Montserrat Medium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Narmada Basin Monitoring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4671566" y="1458962"/>
            <a:ext cx="3981078" cy="96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600"/>
              <a:buFont typeface="Inter Light"/>
              <a:buNone/>
            </a:pPr>
            <a:r>
              <a:rPr lang="en-US" sz="6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AI / remote-sensing research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4671566" y="1656159"/>
            <a:ext cx="155451" cy="9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600"/>
              <a:buFont typeface="Montserrat Light"/>
              <a:buNone/>
            </a:pPr>
            <a:r>
              <a:rPr lang="en-US" sz="600" b="0" i="0" u="none" strike="noStrike" cap="none">
                <a:solidFill>
                  <a:srgbClr val="3D3E4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02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4671566" y="1770980"/>
            <a:ext cx="3981078" cy="9525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2"/>
          <p:cNvSpPr/>
          <p:nvPr/>
        </p:nvSpPr>
        <p:spPr>
          <a:xfrm>
            <a:off x="4671566" y="1836613"/>
            <a:ext cx="3981078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Montserrat Medium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Jarvis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4671566" y="2000696"/>
            <a:ext cx="3981078" cy="96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600"/>
              <a:buFont typeface="Inter Light"/>
              <a:buNone/>
            </a:pPr>
            <a:r>
              <a:rPr lang="en-US" sz="6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Python voice assistant — STT, TTS, LLM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4671566" y="2197894"/>
            <a:ext cx="155451" cy="9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600"/>
              <a:buFont typeface="Montserrat Light"/>
              <a:buNone/>
            </a:pPr>
            <a:r>
              <a:rPr lang="en-US" sz="600" b="0" i="0" u="none" strike="noStrike" cap="none">
                <a:solidFill>
                  <a:srgbClr val="3D3E4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03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4671566" y="2304976"/>
            <a:ext cx="3981078" cy="9525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2"/>
          <p:cNvSpPr/>
          <p:nvPr/>
        </p:nvSpPr>
        <p:spPr>
          <a:xfrm>
            <a:off x="4671566" y="2378348"/>
            <a:ext cx="3981078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Montserrat Medium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WhatsApp Bot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4671566" y="2542431"/>
            <a:ext cx="3981078" cy="96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600"/>
              <a:buFont typeface="Inter Light"/>
              <a:buNone/>
            </a:pPr>
            <a:r>
              <a:rPr lang="en-US" sz="6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LLM integration at scale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4671566" y="2739628"/>
            <a:ext cx="155451" cy="9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600"/>
              <a:buFont typeface="Montserrat Light"/>
              <a:buNone/>
            </a:pPr>
            <a:r>
              <a:rPr lang="en-US" sz="600" b="0" i="0" u="none" strike="noStrike" cap="none">
                <a:solidFill>
                  <a:srgbClr val="3D3E4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04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4671566" y="2838971"/>
            <a:ext cx="3981078" cy="9525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4671566" y="2920082"/>
            <a:ext cx="3981078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Montserrat Medium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IPL Analytics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4671566" y="3084165"/>
            <a:ext cx="3981078" cy="96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600"/>
              <a:buFont typeface="Inter Light"/>
              <a:buNone/>
            </a:pPr>
            <a:r>
              <a:rPr lang="en-US" sz="6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Data analytics dashboard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4671566" y="3281363"/>
            <a:ext cx="155451" cy="9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600"/>
              <a:buFont typeface="Montserrat Light"/>
              <a:buNone/>
            </a:pPr>
            <a:r>
              <a:rPr lang="en-US" sz="600" b="0" i="0" u="none" strike="noStrike" cap="none">
                <a:solidFill>
                  <a:srgbClr val="3D3E4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05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4671566" y="3372966"/>
            <a:ext cx="3981078" cy="9525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4671566" y="3461817"/>
            <a:ext cx="3981078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Montserrat Medium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ProofDeck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4671566" y="3625900"/>
            <a:ext cx="3981078" cy="96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600"/>
              <a:buFont typeface="Inter Light"/>
              <a:buNone/>
            </a:pPr>
            <a:r>
              <a:rPr lang="en-US" sz="6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Startup product concept &amp; pitching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496119" y="3837608"/>
            <a:ext cx="2005905" cy="408161"/>
          </a:xfrm>
          <a:prstGeom prst="roundRect">
            <a:avLst>
              <a:gd name="adj" fmla="val 17144"/>
            </a:avLst>
          </a:prstGeom>
          <a:solidFill>
            <a:srgbClr val="EFF0F6"/>
          </a:solidFill>
          <a:ln w="9525" cap="flat" cmpd="sng">
            <a:solidFill>
              <a:srgbClr val="C5C7D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578569" y="3958754"/>
            <a:ext cx="1841004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Montserrat Medium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Frontend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578569" y="4105721"/>
            <a:ext cx="1841004" cy="96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600"/>
              <a:buFont typeface="Inter Light"/>
              <a:buNone/>
            </a:pPr>
            <a:r>
              <a:rPr lang="en-US" sz="6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React / PWA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2544663" y="3837608"/>
            <a:ext cx="2005980" cy="408161"/>
          </a:xfrm>
          <a:prstGeom prst="roundRect">
            <a:avLst>
              <a:gd name="adj" fmla="val 17144"/>
            </a:avLst>
          </a:prstGeom>
          <a:solidFill>
            <a:srgbClr val="EFF0F6"/>
          </a:solidFill>
          <a:ln w="9525" cap="flat" cmpd="sng">
            <a:solidFill>
              <a:srgbClr val="C5C7D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2627114" y="3958754"/>
            <a:ext cx="1841078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Montserrat Medium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Backend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2627114" y="4105721"/>
            <a:ext cx="1841078" cy="96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600"/>
              <a:buFont typeface="Inter Light"/>
              <a:buNone/>
            </a:pPr>
            <a:r>
              <a:rPr lang="en-US" sz="6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Node / Python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4593282" y="3837608"/>
            <a:ext cx="2005980" cy="408161"/>
          </a:xfrm>
          <a:prstGeom prst="roundRect">
            <a:avLst>
              <a:gd name="adj" fmla="val 17144"/>
            </a:avLst>
          </a:prstGeom>
          <a:solidFill>
            <a:srgbClr val="EFF0F6"/>
          </a:solidFill>
          <a:ln w="9525" cap="flat" cmpd="sng">
            <a:solidFill>
              <a:srgbClr val="C5C7D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4675733" y="3958754"/>
            <a:ext cx="1841078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Montserrat Medium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4675733" y="4105721"/>
            <a:ext cx="1841078" cy="96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600"/>
              <a:buFont typeface="Inter Light"/>
              <a:buNone/>
            </a:pPr>
            <a:r>
              <a:rPr lang="en-US" sz="6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Google Vision / Claude Vision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6641902" y="3837608"/>
            <a:ext cx="2005980" cy="408161"/>
          </a:xfrm>
          <a:prstGeom prst="roundRect">
            <a:avLst>
              <a:gd name="adj" fmla="val 17144"/>
            </a:avLst>
          </a:prstGeom>
          <a:solidFill>
            <a:srgbClr val="EFF0F6"/>
          </a:solidFill>
          <a:ln w="9525" cap="flat" cmpd="sng">
            <a:solidFill>
              <a:srgbClr val="C5C7D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6724352" y="3958754"/>
            <a:ext cx="1841078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Montserrat Medium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6724352" y="4105721"/>
            <a:ext cx="1841078" cy="96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600"/>
              <a:buFont typeface="Inter Light"/>
              <a:buNone/>
            </a:pPr>
            <a:r>
              <a:rPr lang="en-US" sz="6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LLM + Structured Knowledge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496119" y="4288408"/>
            <a:ext cx="8151763" cy="408161"/>
          </a:xfrm>
          <a:prstGeom prst="roundRect">
            <a:avLst>
              <a:gd name="adj" fmla="val 17144"/>
            </a:avLst>
          </a:prstGeom>
          <a:solidFill>
            <a:srgbClr val="EFF0F6"/>
          </a:solidFill>
          <a:ln w="9525" cap="flat" cmpd="sng">
            <a:solidFill>
              <a:srgbClr val="C5C7D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578569" y="4409554"/>
            <a:ext cx="7986861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750"/>
              <a:buFont typeface="Montserrat Medium"/>
              <a:buNone/>
            </a:pPr>
            <a:r>
              <a:rPr lang="en-US" sz="75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Deploy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578569" y="4556522"/>
            <a:ext cx="7986861" cy="96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600"/>
              <a:buFont typeface="Inter Light"/>
              <a:buNone/>
            </a:pPr>
            <a:r>
              <a:rPr lang="en-US" sz="60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Vercel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7935460" y="4813185"/>
            <a:ext cx="1200600" cy="322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/>
          <p:nvPr/>
        </p:nvSpPr>
        <p:spPr>
          <a:xfrm>
            <a:off x="496119" y="508471"/>
            <a:ext cx="8151763" cy="48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050"/>
              <a:buFont typeface="Montserrat Medium"/>
              <a:buNone/>
            </a:pPr>
            <a:r>
              <a:rPr lang="en-US" sz="3050" b="0" i="0" u="none" strike="noStrike" cap="non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Nothing gets lost.</a:t>
            </a:r>
            <a:endParaRPr sz="3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267519" y="1178942"/>
            <a:ext cx="8608963" cy="163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850"/>
              <a:buFont typeface="Inter Light"/>
              <a:buNone/>
            </a:pPr>
            <a:r>
              <a:rPr lang="en-US" sz="85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Between the doctor's pen and the patient's medicine cabinet.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444228"/>
            <a:ext cx="4075881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3"/>
          <p:cNvSpPr/>
          <p:nvPr/>
        </p:nvSpPr>
        <p:spPr>
          <a:xfrm>
            <a:off x="609526" y="1988567"/>
            <a:ext cx="3849067" cy="1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📄</a:t>
            </a:r>
            <a:r>
              <a:rPr lang="en-US" sz="110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Paper Prescription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1444228"/>
            <a:ext cx="4075881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3"/>
          <p:cNvSpPr/>
          <p:nvPr/>
        </p:nvSpPr>
        <p:spPr>
          <a:xfrm>
            <a:off x="4685407" y="1988567"/>
            <a:ext cx="3849067" cy="1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📱</a:t>
            </a:r>
            <a:r>
              <a:rPr lang="en-US" sz="110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Phone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6119" y="2279154"/>
            <a:ext cx="4075881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3"/>
          <p:cNvSpPr/>
          <p:nvPr/>
        </p:nvSpPr>
        <p:spPr>
          <a:xfrm>
            <a:off x="609526" y="2823493"/>
            <a:ext cx="3849067" cy="1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🧠</a:t>
            </a:r>
            <a:r>
              <a:rPr lang="en-US" sz="110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0" y="2279154"/>
            <a:ext cx="4075881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3"/>
          <p:cNvSpPr/>
          <p:nvPr/>
        </p:nvSpPr>
        <p:spPr>
          <a:xfrm>
            <a:off x="4685407" y="2823493"/>
            <a:ext cx="3849067" cy="1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lang="en-US" sz="110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Clear Medication Picture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496119" y="3358083"/>
            <a:ext cx="8151763" cy="1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00"/>
              <a:buFont typeface="Montserrat Medium"/>
              <a:buNone/>
            </a:pPr>
            <a:r>
              <a:rPr lang="en-US" sz="1100" b="0" i="0" u="none" strike="noStrike" cap="non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Future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496119" y="3589660"/>
            <a:ext cx="8151763" cy="163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850"/>
              <a:buFont typeface="Inter Light"/>
              <a:buNone/>
            </a:pPr>
            <a:r>
              <a:rPr lang="en-US" sz="85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Interaction verification · Offline capability · More languages · Pharmacist workflows · Consent-based doctor collaboration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496119" y="3888953"/>
            <a:ext cx="8151763" cy="28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750"/>
              <a:buFont typeface="Montserrat Medium"/>
              <a:buNone/>
            </a:pPr>
            <a:r>
              <a:rPr lang="en-US" sz="1750" b="0" i="0" u="none" strike="noStrike" cap="none">
                <a:solidFill>
                  <a:srgbClr val="0D737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MedBridge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496119" y="4308500"/>
            <a:ext cx="8151763" cy="326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850"/>
              <a:buFont typeface="Inter Light"/>
              <a:buNone/>
            </a:pPr>
            <a:r>
              <a:rPr lang="en-US" sz="850" b="0" i="1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"One Photo. One Clear Picture."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850"/>
              <a:buFont typeface="Inter Light"/>
              <a:buNone/>
            </a:pPr>
            <a:r>
              <a:rPr lang="en-US" sz="850" b="0" i="0" u="none" strike="noStrike" cap="non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Daksh Khandelwal × Khushi Kushwah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481831" y="3216101"/>
            <a:ext cx="8180338" cy="28575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7935460" y="4813185"/>
            <a:ext cx="1200600" cy="322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</Words>
  <Application>Microsoft Office PowerPoint</Application>
  <PresentationFormat>On-screen Show (16:9)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Inter</vt:lpstr>
      <vt:lpstr>Montserrat Medium</vt:lpstr>
      <vt:lpstr>Inter Light</vt:lpstr>
      <vt:lpstr>Arial</vt:lpstr>
      <vt:lpstr>Montserrat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DAKSH KHANDELWAL</cp:lastModifiedBy>
  <cp:revision>1</cp:revision>
  <dcterms:modified xsi:type="dcterms:W3CDTF">2026-09-01T17:40:31Z</dcterms:modified>
</cp:coreProperties>
</file>